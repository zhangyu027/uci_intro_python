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1"/>
  </p:normalViewPr>
  <p:slideViewPr>
    <p:cSldViewPr>
      <p:cViewPr varScale="1">
        <p:scale>
          <a:sx n="95" d="100"/>
          <a:sy n="95" d="100"/>
        </p:scale>
        <p:origin x="13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5F59D-CCA8-7F40-8735-892A594F94E8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8013F-CA93-024D-BAF4-00EF0682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1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8013F-CA93-024D-BAF4-00EF068224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8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9722" y="2166937"/>
            <a:ext cx="6464554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7665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9144000" cy="611505"/>
          </a:xfrm>
          <a:custGeom>
            <a:avLst/>
            <a:gdLst/>
            <a:ahLst/>
            <a:cxnLst/>
            <a:rect l="l" t="t" r="r" b="b"/>
            <a:pathLst>
              <a:path w="9144000" h="611505">
                <a:moveTo>
                  <a:pt x="9144000" y="0"/>
                </a:moveTo>
                <a:lnTo>
                  <a:pt x="0" y="0"/>
                </a:lnTo>
                <a:lnTo>
                  <a:pt x="0" y="611124"/>
                </a:lnTo>
                <a:lnTo>
                  <a:pt x="9144000" y="611124"/>
                </a:lnTo>
                <a:lnTo>
                  <a:pt x="9144000" y="0"/>
                </a:lnTo>
                <a:close/>
              </a:path>
            </a:pathLst>
          </a:custGeom>
          <a:solidFill>
            <a:srgbClr val="1B3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1" y="579119"/>
            <a:ext cx="9144000" cy="29209"/>
          </a:xfrm>
          <a:custGeom>
            <a:avLst/>
            <a:gdLst/>
            <a:ahLst/>
            <a:cxnLst/>
            <a:rect l="l" t="t" r="r" b="b"/>
            <a:pathLst>
              <a:path w="9144000" h="29209">
                <a:moveTo>
                  <a:pt x="0" y="28955"/>
                </a:moveTo>
                <a:lnTo>
                  <a:pt x="9144000" y="28955"/>
                </a:lnTo>
                <a:lnTo>
                  <a:pt x="9144000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7802" y="933129"/>
            <a:ext cx="670839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094831"/>
            <a:ext cx="8072119" cy="2293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continuum.io/downlo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1530" marR="5080" indent="-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Intro</a:t>
            </a:r>
            <a:r>
              <a:rPr spc="-55" dirty="0"/>
              <a:t> </a:t>
            </a:r>
            <a:r>
              <a:rPr spc="-254" dirty="0"/>
              <a:t>To</a:t>
            </a:r>
            <a:r>
              <a:rPr spc="-330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0" dirty="0"/>
              <a:t>Data </a:t>
            </a:r>
            <a:r>
              <a:rPr spc="-10" dirty="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88691" y="3907027"/>
            <a:ext cx="3180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Week</a:t>
            </a:r>
            <a:r>
              <a:rPr sz="3200" spc="-1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1</a:t>
            </a:r>
            <a:r>
              <a:rPr sz="3200" spc="-1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Arial"/>
                <a:cs typeface="Arial"/>
              </a:rPr>
              <a:t>Overview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7802" y="933129"/>
            <a:ext cx="6707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we do</a:t>
            </a:r>
            <a:r>
              <a:rPr spc="-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spc="-10" dirty="0"/>
              <a:t>week?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21679"/>
            <a:ext cx="7298055" cy="31718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Arial"/>
                <a:cs typeface="Arial"/>
              </a:rPr>
              <a:t>Install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Python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3.X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(with the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Anaconda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Distribution)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Arial"/>
                <a:cs typeface="Arial"/>
              </a:rPr>
              <a:t>Intro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Jupyter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Notebooks</a:t>
            </a:r>
            <a:endParaRPr sz="2400">
              <a:latin typeface="Arial"/>
              <a:cs typeface="Arial"/>
            </a:endParaRPr>
          </a:p>
          <a:p>
            <a:pPr marL="527685" marR="82550" indent="-5156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Arial"/>
                <a:cs typeface="Arial"/>
              </a:rPr>
              <a:t>Review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Material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Intro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65" dirty="0">
                <a:latin typeface="Arial"/>
                <a:cs typeface="Arial"/>
              </a:rPr>
              <a:t>To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Programming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With </a:t>
            </a:r>
            <a:r>
              <a:rPr sz="2400" i="1" dirty="0">
                <a:latin typeface="Arial"/>
                <a:cs typeface="Arial"/>
              </a:rPr>
              <a:t>Python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(This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week 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week)</a:t>
            </a:r>
            <a:endParaRPr sz="24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spc="-10" dirty="0">
                <a:latin typeface="Arial"/>
                <a:cs typeface="Arial"/>
              </a:rPr>
              <a:t>Variables</a:t>
            </a:r>
            <a:endParaRPr sz="20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dirty="0">
                <a:latin typeface="Arial"/>
                <a:cs typeface="Arial"/>
              </a:rPr>
              <a:t>Flow</a:t>
            </a:r>
            <a:r>
              <a:rPr sz="2000" spc="-10" dirty="0">
                <a:latin typeface="Arial"/>
                <a:cs typeface="Arial"/>
              </a:rPr>
              <a:t> Control</a:t>
            </a:r>
            <a:endParaRPr sz="20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spc="-10" dirty="0">
                <a:latin typeface="Arial"/>
                <a:cs typeface="Arial"/>
              </a:rPr>
              <a:t>Functions</a:t>
            </a:r>
            <a:endParaRPr sz="20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dirty="0">
                <a:latin typeface="Arial"/>
                <a:cs typeface="Arial"/>
              </a:rPr>
              <a:t>File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I/O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7802" y="933129"/>
            <a:ext cx="6707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we do</a:t>
            </a:r>
            <a:r>
              <a:rPr spc="-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spc="-10" dirty="0"/>
              <a:t>week?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4831"/>
            <a:ext cx="7713980" cy="1936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9563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20" dirty="0">
                <a:latin typeface="Arial"/>
                <a:cs typeface="Arial"/>
              </a:rPr>
              <a:t>You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will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see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videos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Intro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To </a:t>
            </a:r>
            <a:r>
              <a:rPr sz="2400" b="1" dirty="0">
                <a:latin typeface="Arial"/>
                <a:cs typeface="Arial"/>
              </a:rPr>
              <a:t>Programming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Python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are </a:t>
            </a:r>
            <a:r>
              <a:rPr sz="2400" b="1" dirty="0">
                <a:latin typeface="Arial"/>
                <a:cs typeface="Arial"/>
              </a:rPr>
              <a:t>borrowing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material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10" dirty="0">
                <a:latin typeface="Arial"/>
                <a:cs typeface="Arial"/>
              </a:rPr>
              <a:t> course.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Intro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Programming With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Python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week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course,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cramming review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10" dirty="0">
                <a:latin typeface="Arial"/>
                <a:cs typeface="Arial"/>
              </a:rPr>
              <a:t> weeks.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7802" y="933129"/>
            <a:ext cx="6707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What</a:t>
            </a:r>
            <a:r>
              <a:rPr sz="4400" spc="-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will</a:t>
            </a:r>
            <a:r>
              <a:rPr sz="4400" spc="-2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we do</a:t>
            </a:r>
            <a:r>
              <a:rPr sz="4400" spc="-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this</a:t>
            </a:r>
            <a:r>
              <a:rPr sz="4400" spc="-5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week?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1505" y="2094831"/>
            <a:ext cx="2299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That’s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let’s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go!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446" y="933129"/>
            <a:ext cx="4533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45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75019"/>
            <a:ext cx="7948930" cy="12020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27685" marR="5080" indent="-515620">
              <a:lnSpc>
                <a:spcPct val="100800"/>
              </a:lnSpc>
              <a:spcBef>
                <a:spcPts val="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free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Python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distribution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including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all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most </a:t>
            </a:r>
            <a:r>
              <a:rPr sz="2400" spc="-80" dirty="0">
                <a:latin typeface="Arial"/>
                <a:cs typeface="Arial"/>
              </a:rPr>
              <a:t>popular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python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0" dirty="0">
                <a:latin typeface="Arial"/>
                <a:cs typeface="Arial"/>
              </a:rPr>
              <a:t>packages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data-</a:t>
            </a:r>
            <a:r>
              <a:rPr sz="2400" spc="-10" dirty="0">
                <a:latin typeface="Arial"/>
                <a:cs typeface="Arial"/>
              </a:rPr>
              <a:t>science.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90" dirty="0">
                <a:latin typeface="Arial"/>
                <a:cs typeface="Arial"/>
              </a:rPr>
              <a:t>Hassle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free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installation!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446" y="933129"/>
            <a:ext cx="4533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45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579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What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I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already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have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Python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installed?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5654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25" dirty="0">
                <a:latin typeface="Arial"/>
                <a:cs typeface="Arial"/>
              </a:rPr>
              <a:t>Go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to: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u="sng" spc="-40" dirty="0">
                <a:solidFill>
                  <a:srgbClr val="9BBA58"/>
                </a:solidFill>
                <a:uFill>
                  <a:solidFill>
                    <a:srgbClr val="9BBA58"/>
                  </a:solidFill>
                </a:uFill>
                <a:latin typeface="Arial"/>
                <a:cs typeface="Arial"/>
                <a:hlinkClick r:id="rId2"/>
              </a:rPr>
              <a:t>http://continuum.io/downloads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59266" y="1703832"/>
            <a:ext cx="5747385" cy="4295140"/>
            <a:chOff x="2159266" y="1703832"/>
            <a:chExt cx="5747385" cy="4295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0383" y="2595372"/>
              <a:ext cx="4523231" cy="34030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11295" y="2520696"/>
              <a:ext cx="1009015" cy="353695"/>
            </a:xfrm>
            <a:custGeom>
              <a:avLst/>
              <a:gdLst/>
              <a:ahLst/>
              <a:cxnLst/>
              <a:rect l="l" t="t" r="r" b="b"/>
              <a:pathLst>
                <a:path w="1009014" h="353694">
                  <a:moveTo>
                    <a:pt x="0" y="176784"/>
                  </a:moveTo>
                  <a:lnTo>
                    <a:pt x="31559" y="115100"/>
                  </a:lnTo>
                  <a:lnTo>
                    <a:pt x="68872" y="87553"/>
                  </a:lnTo>
                  <a:lnTo>
                    <a:pt x="118643" y="62877"/>
                  </a:lnTo>
                  <a:lnTo>
                    <a:pt x="179438" y="41579"/>
                  </a:lnTo>
                  <a:lnTo>
                    <a:pt x="249847" y="24130"/>
                  </a:lnTo>
                  <a:lnTo>
                    <a:pt x="288201" y="17018"/>
                  </a:lnTo>
                  <a:lnTo>
                    <a:pt x="328422" y="11061"/>
                  </a:lnTo>
                  <a:lnTo>
                    <a:pt x="370344" y="6311"/>
                  </a:lnTo>
                  <a:lnTo>
                    <a:pt x="413766" y="2844"/>
                  </a:lnTo>
                  <a:lnTo>
                    <a:pt x="458533" y="723"/>
                  </a:lnTo>
                  <a:lnTo>
                    <a:pt x="504444" y="0"/>
                  </a:lnTo>
                  <a:lnTo>
                    <a:pt x="550354" y="723"/>
                  </a:lnTo>
                  <a:lnTo>
                    <a:pt x="595122" y="2844"/>
                  </a:lnTo>
                  <a:lnTo>
                    <a:pt x="638543" y="6311"/>
                  </a:lnTo>
                  <a:lnTo>
                    <a:pt x="680466" y="11061"/>
                  </a:lnTo>
                  <a:lnTo>
                    <a:pt x="720686" y="17018"/>
                  </a:lnTo>
                  <a:lnTo>
                    <a:pt x="759040" y="24130"/>
                  </a:lnTo>
                  <a:lnTo>
                    <a:pt x="829449" y="41579"/>
                  </a:lnTo>
                  <a:lnTo>
                    <a:pt x="890244" y="62877"/>
                  </a:lnTo>
                  <a:lnTo>
                    <a:pt x="940015" y="87553"/>
                  </a:lnTo>
                  <a:lnTo>
                    <a:pt x="977328" y="115100"/>
                  </a:lnTo>
                  <a:lnTo>
                    <a:pt x="1008888" y="176784"/>
                  </a:lnTo>
                  <a:lnTo>
                    <a:pt x="1006830" y="192874"/>
                  </a:lnTo>
                  <a:lnTo>
                    <a:pt x="960323" y="252564"/>
                  </a:lnTo>
                  <a:lnTo>
                    <a:pt x="916597" y="278739"/>
                  </a:lnTo>
                  <a:lnTo>
                    <a:pt x="861136" y="301790"/>
                  </a:lnTo>
                  <a:lnTo>
                    <a:pt x="795362" y="321221"/>
                  </a:lnTo>
                  <a:lnTo>
                    <a:pt x="720686" y="336550"/>
                  </a:lnTo>
                  <a:lnTo>
                    <a:pt x="680466" y="342506"/>
                  </a:lnTo>
                  <a:lnTo>
                    <a:pt x="638543" y="347256"/>
                  </a:lnTo>
                  <a:lnTo>
                    <a:pt x="595122" y="350723"/>
                  </a:lnTo>
                  <a:lnTo>
                    <a:pt x="550354" y="352844"/>
                  </a:lnTo>
                  <a:lnTo>
                    <a:pt x="504444" y="353568"/>
                  </a:lnTo>
                  <a:lnTo>
                    <a:pt x="458533" y="352844"/>
                  </a:lnTo>
                  <a:lnTo>
                    <a:pt x="413766" y="350723"/>
                  </a:lnTo>
                  <a:lnTo>
                    <a:pt x="370344" y="347256"/>
                  </a:lnTo>
                  <a:lnTo>
                    <a:pt x="328422" y="342506"/>
                  </a:lnTo>
                  <a:lnTo>
                    <a:pt x="288201" y="336550"/>
                  </a:lnTo>
                  <a:lnTo>
                    <a:pt x="249847" y="329425"/>
                  </a:lnTo>
                  <a:lnTo>
                    <a:pt x="179438" y="311988"/>
                  </a:lnTo>
                  <a:lnTo>
                    <a:pt x="118643" y="290677"/>
                  </a:lnTo>
                  <a:lnTo>
                    <a:pt x="68872" y="266014"/>
                  </a:lnTo>
                  <a:lnTo>
                    <a:pt x="31559" y="238467"/>
                  </a:lnTo>
                  <a:lnTo>
                    <a:pt x="0" y="176784"/>
                  </a:lnTo>
                  <a:close/>
                </a:path>
              </a:pathLst>
            </a:custGeom>
            <a:ln w="5791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6967" y="2935224"/>
              <a:ext cx="2136775" cy="568960"/>
            </a:xfrm>
            <a:custGeom>
              <a:avLst/>
              <a:gdLst/>
              <a:ahLst/>
              <a:cxnLst/>
              <a:rect l="l" t="t" r="r" b="b"/>
              <a:pathLst>
                <a:path w="2136775" h="568960">
                  <a:moveTo>
                    <a:pt x="0" y="284225"/>
                  </a:moveTo>
                  <a:lnTo>
                    <a:pt x="20421" y="228625"/>
                  </a:lnTo>
                  <a:lnTo>
                    <a:pt x="79095" y="176695"/>
                  </a:lnTo>
                  <a:lnTo>
                    <a:pt x="121539" y="152425"/>
                  </a:lnTo>
                  <a:lnTo>
                    <a:pt x="172085" y="129463"/>
                  </a:lnTo>
                  <a:lnTo>
                    <a:pt x="230225" y="107937"/>
                  </a:lnTo>
                  <a:lnTo>
                    <a:pt x="295478" y="87972"/>
                  </a:lnTo>
                  <a:lnTo>
                    <a:pt x="367360" y="69710"/>
                  </a:lnTo>
                  <a:lnTo>
                    <a:pt x="405625" y="61264"/>
                  </a:lnTo>
                  <a:lnTo>
                    <a:pt x="445376" y="53276"/>
                  </a:lnTo>
                  <a:lnTo>
                    <a:pt x="486524" y="45796"/>
                  </a:lnTo>
                  <a:lnTo>
                    <a:pt x="529031" y="38798"/>
                  </a:lnTo>
                  <a:lnTo>
                    <a:pt x="572820" y="32346"/>
                  </a:lnTo>
                  <a:lnTo>
                    <a:pt x="617829" y="26415"/>
                  </a:lnTo>
                  <a:lnTo>
                    <a:pt x="664019" y="21043"/>
                  </a:lnTo>
                  <a:lnTo>
                    <a:pt x="711314" y="16243"/>
                  </a:lnTo>
                  <a:lnTo>
                    <a:pt x="759637" y="12039"/>
                  </a:lnTo>
                  <a:lnTo>
                    <a:pt x="808951" y="8420"/>
                  </a:lnTo>
                  <a:lnTo>
                    <a:pt x="859193" y="5435"/>
                  </a:lnTo>
                  <a:lnTo>
                    <a:pt x="910297" y="3086"/>
                  </a:lnTo>
                  <a:lnTo>
                    <a:pt x="962190" y="1384"/>
                  </a:lnTo>
                  <a:lnTo>
                    <a:pt x="1014818" y="342"/>
                  </a:lnTo>
                  <a:lnTo>
                    <a:pt x="1068133" y="0"/>
                  </a:lnTo>
                  <a:lnTo>
                    <a:pt x="1121448" y="342"/>
                  </a:lnTo>
                  <a:lnTo>
                    <a:pt x="1174076" y="1384"/>
                  </a:lnTo>
                  <a:lnTo>
                    <a:pt x="1225969" y="3086"/>
                  </a:lnTo>
                  <a:lnTo>
                    <a:pt x="1277073" y="5435"/>
                  </a:lnTo>
                  <a:lnTo>
                    <a:pt x="1327315" y="8420"/>
                  </a:lnTo>
                  <a:lnTo>
                    <a:pt x="1376629" y="12039"/>
                  </a:lnTo>
                  <a:lnTo>
                    <a:pt x="1424952" y="16243"/>
                  </a:lnTo>
                  <a:lnTo>
                    <a:pt x="1472247" y="21043"/>
                  </a:lnTo>
                  <a:lnTo>
                    <a:pt x="1518437" y="26415"/>
                  </a:lnTo>
                  <a:lnTo>
                    <a:pt x="1563446" y="32346"/>
                  </a:lnTo>
                  <a:lnTo>
                    <a:pt x="1607235" y="38798"/>
                  </a:lnTo>
                  <a:lnTo>
                    <a:pt x="1649742" y="45796"/>
                  </a:lnTo>
                  <a:lnTo>
                    <a:pt x="1690890" y="53276"/>
                  </a:lnTo>
                  <a:lnTo>
                    <a:pt x="1730641" y="61264"/>
                  </a:lnTo>
                  <a:lnTo>
                    <a:pt x="1768906" y="69710"/>
                  </a:lnTo>
                  <a:lnTo>
                    <a:pt x="1840788" y="87972"/>
                  </a:lnTo>
                  <a:lnTo>
                    <a:pt x="1906041" y="107937"/>
                  </a:lnTo>
                  <a:lnTo>
                    <a:pt x="1964182" y="129463"/>
                  </a:lnTo>
                  <a:lnTo>
                    <a:pt x="2036991" y="164401"/>
                  </a:lnTo>
                  <a:lnTo>
                    <a:pt x="2075218" y="189280"/>
                  </a:lnTo>
                  <a:lnTo>
                    <a:pt x="2104605" y="215264"/>
                  </a:lnTo>
                  <a:lnTo>
                    <a:pt x="2134958" y="270040"/>
                  </a:lnTo>
                  <a:lnTo>
                    <a:pt x="2136267" y="284225"/>
                  </a:lnTo>
                  <a:lnTo>
                    <a:pt x="2134958" y="298411"/>
                  </a:lnTo>
                  <a:lnTo>
                    <a:pt x="2104605" y="353186"/>
                  </a:lnTo>
                  <a:lnTo>
                    <a:pt x="2075218" y="379171"/>
                  </a:lnTo>
                  <a:lnTo>
                    <a:pt x="2036991" y="404050"/>
                  </a:lnTo>
                  <a:lnTo>
                    <a:pt x="1990432" y="427685"/>
                  </a:lnTo>
                  <a:lnTo>
                    <a:pt x="1936038" y="449935"/>
                  </a:lnTo>
                  <a:lnTo>
                    <a:pt x="1874278" y="470700"/>
                  </a:lnTo>
                  <a:lnTo>
                    <a:pt x="1805647" y="489826"/>
                  </a:lnTo>
                  <a:lnTo>
                    <a:pt x="1730641" y="507187"/>
                  </a:lnTo>
                  <a:lnTo>
                    <a:pt x="1690890" y="515175"/>
                  </a:lnTo>
                  <a:lnTo>
                    <a:pt x="1649742" y="522655"/>
                  </a:lnTo>
                  <a:lnTo>
                    <a:pt x="1607235" y="529640"/>
                  </a:lnTo>
                  <a:lnTo>
                    <a:pt x="1563446" y="536105"/>
                  </a:lnTo>
                  <a:lnTo>
                    <a:pt x="1518437" y="542035"/>
                  </a:lnTo>
                  <a:lnTo>
                    <a:pt x="1472247" y="547408"/>
                  </a:lnTo>
                  <a:lnTo>
                    <a:pt x="1424952" y="552208"/>
                  </a:lnTo>
                  <a:lnTo>
                    <a:pt x="1376629" y="556412"/>
                  </a:lnTo>
                  <a:lnTo>
                    <a:pt x="1327315" y="560031"/>
                  </a:lnTo>
                  <a:lnTo>
                    <a:pt x="1277073" y="563016"/>
                  </a:lnTo>
                  <a:lnTo>
                    <a:pt x="1225969" y="565365"/>
                  </a:lnTo>
                  <a:lnTo>
                    <a:pt x="1174076" y="567067"/>
                  </a:lnTo>
                  <a:lnTo>
                    <a:pt x="1121448" y="568109"/>
                  </a:lnTo>
                  <a:lnTo>
                    <a:pt x="1068133" y="568451"/>
                  </a:lnTo>
                  <a:lnTo>
                    <a:pt x="1014818" y="568109"/>
                  </a:lnTo>
                  <a:lnTo>
                    <a:pt x="962190" y="567067"/>
                  </a:lnTo>
                  <a:lnTo>
                    <a:pt x="910297" y="565365"/>
                  </a:lnTo>
                  <a:lnTo>
                    <a:pt x="859193" y="563016"/>
                  </a:lnTo>
                  <a:lnTo>
                    <a:pt x="808951" y="560031"/>
                  </a:lnTo>
                  <a:lnTo>
                    <a:pt x="759637" y="556412"/>
                  </a:lnTo>
                  <a:lnTo>
                    <a:pt x="711314" y="552208"/>
                  </a:lnTo>
                  <a:lnTo>
                    <a:pt x="664019" y="547408"/>
                  </a:lnTo>
                  <a:lnTo>
                    <a:pt x="617829" y="542035"/>
                  </a:lnTo>
                  <a:lnTo>
                    <a:pt x="572820" y="536105"/>
                  </a:lnTo>
                  <a:lnTo>
                    <a:pt x="529031" y="529640"/>
                  </a:lnTo>
                  <a:lnTo>
                    <a:pt x="486524" y="522655"/>
                  </a:lnTo>
                  <a:lnTo>
                    <a:pt x="445376" y="515175"/>
                  </a:lnTo>
                  <a:lnTo>
                    <a:pt x="405625" y="507187"/>
                  </a:lnTo>
                  <a:lnTo>
                    <a:pt x="367360" y="498741"/>
                  </a:lnTo>
                  <a:lnTo>
                    <a:pt x="295478" y="480479"/>
                  </a:lnTo>
                  <a:lnTo>
                    <a:pt x="230225" y="460514"/>
                  </a:lnTo>
                  <a:lnTo>
                    <a:pt x="172085" y="438988"/>
                  </a:lnTo>
                  <a:lnTo>
                    <a:pt x="99275" y="404050"/>
                  </a:lnTo>
                  <a:lnTo>
                    <a:pt x="61048" y="379171"/>
                  </a:lnTo>
                  <a:lnTo>
                    <a:pt x="31661" y="353186"/>
                  </a:lnTo>
                  <a:lnTo>
                    <a:pt x="1308" y="298411"/>
                  </a:lnTo>
                  <a:lnTo>
                    <a:pt x="0" y="284225"/>
                  </a:lnTo>
                  <a:close/>
                </a:path>
              </a:pathLst>
            </a:custGeom>
            <a:ln w="5791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1774" y="2699362"/>
              <a:ext cx="164617" cy="1535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59266" y="1703831"/>
              <a:ext cx="5747385" cy="1348740"/>
            </a:xfrm>
            <a:custGeom>
              <a:avLst/>
              <a:gdLst/>
              <a:ahLst/>
              <a:cxnLst/>
              <a:rect l="l" t="t" r="r" b="b"/>
              <a:pathLst>
                <a:path w="5747384" h="1348739">
                  <a:moveTo>
                    <a:pt x="1153845" y="1081659"/>
                  </a:moveTo>
                  <a:lnTo>
                    <a:pt x="1083424" y="1060132"/>
                  </a:lnTo>
                  <a:lnTo>
                    <a:pt x="0" y="1271917"/>
                  </a:lnTo>
                  <a:lnTo>
                    <a:pt x="6642" y="1305902"/>
                  </a:lnTo>
                  <a:lnTo>
                    <a:pt x="1153845" y="1081659"/>
                  </a:lnTo>
                  <a:close/>
                </a:path>
                <a:path w="5747384" h="1348739">
                  <a:moveTo>
                    <a:pt x="5005286" y="1192936"/>
                  </a:moveTo>
                  <a:lnTo>
                    <a:pt x="5002631" y="1178052"/>
                  </a:lnTo>
                  <a:lnTo>
                    <a:pt x="4994402" y="1165364"/>
                  </a:lnTo>
                  <a:lnTo>
                    <a:pt x="4982362" y="1157109"/>
                  </a:lnTo>
                  <a:lnTo>
                    <a:pt x="4968100" y="1153960"/>
                  </a:lnTo>
                  <a:lnTo>
                    <a:pt x="4953216" y="1156627"/>
                  </a:lnTo>
                  <a:lnTo>
                    <a:pt x="4838166" y="1202029"/>
                  </a:lnTo>
                  <a:lnTo>
                    <a:pt x="5003279" y="1202029"/>
                  </a:lnTo>
                  <a:lnTo>
                    <a:pt x="5005286" y="1192936"/>
                  </a:lnTo>
                  <a:close/>
                </a:path>
                <a:path w="5747384" h="1348739">
                  <a:moveTo>
                    <a:pt x="5747156" y="47091"/>
                  </a:moveTo>
                  <a:lnTo>
                    <a:pt x="5687288" y="0"/>
                  </a:lnTo>
                  <a:lnTo>
                    <a:pt x="4778286" y="1154938"/>
                  </a:lnTo>
                  <a:lnTo>
                    <a:pt x="4795380" y="1032459"/>
                  </a:lnTo>
                  <a:lnTo>
                    <a:pt x="4794466" y="1017371"/>
                  </a:lnTo>
                  <a:lnTo>
                    <a:pt x="4788052" y="1004252"/>
                  </a:lnTo>
                  <a:lnTo>
                    <a:pt x="4777194" y="994498"/>
                  </a:lnTo>
                  <a:lnTo>
                    <a:pt x="4762919" y="989482"/>
                  </a:lnTo>
                  <a:lnTo>
                    <a:pt x="4724946" y="1007668"/>
                  </a:lnTo>
                  <a:lnTo>
                    <a:pt x="4674349" y="1348587"/>
                  </a:lnTo>
                  <a:lnTo>
                    <a:pt x="4981181" y="1227467"/>
                  </a:lnTo>
                  <a:lnTo>
                    <a:pt x="4993881" y="1219238"/>
                  </a:lnTo>
                  <a:lnTo>
                    <a:pt x="5002136" y="1207198"/>
                  </a:lnTo>
                  <a:lnTo>
                    <a:pt x="5003279" y="1202042"/>
                  </a:lnTo>
                  <a:lnTo>
                    <a:pt x="4838154" y="1202042"/>
                  </a:lnTo>
                  <a:lnTo>
                    <a:pt x="4875225" y="1154938"/>
                  </a:lnTo>
                  <a:lnTo>
                    <a:pt x="5747156" y="47091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766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downloaded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package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3516" y="2622804"/>
            <a:ext cx="4696967" cy="3325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3587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Note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this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error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below.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6752" y="2567939"/>
            <a:ext cx="4730495" cy="3336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666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85" dirty="0">
                <a:latin typeface="Arial"/>
                <a:cs typeface="Arial"/>
              </a:rPr>
              <a:t>Just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click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“Install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me </a:t>
            </a:r>
            <a:r>
              <a:rPr sz="2400" dirty="0">
                <a:latin typeface="Arial"/>
                <a:cs typeface="Arial"/>
              </a:rPr>
              <a:t>only”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selection.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3035" y="2601467"/>
            <a:ext cx="4757927" cy="3342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34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Proceed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complete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install.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512" y="2569464"/>
            <a:ext cx="4760975" cy="3355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3791" y="933129"/>
            <a:ext cx="5376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470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5" dirty="0">
                <a:latin typeface="Arial"/>
                <a:cs typeface="Arial"/>
              </a:rPr>
              <a:t>Find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39211"/>
            <a:ext cx="9143999" cy="2293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3791" y="933129"/>
            <a:ext cx="5376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13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5855" y="2593848"/>
            <a:ext cx="5352287" cy="3343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91670" y="2473303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1530" marR="5080" indent="-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Intro</a:t>
            </a:r>
            <a:r>
              <a:rPr spc="-55" dirty="0"/>
              <a:t> </a:t>
            </a:r>
            <a:r>
              <a:rPr spc="-254" dirty="0"/>
              <a:t>To</a:t>
            </a:r>
            <a:r>
              <a:rPr spc="-330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0" dirty="0"/>
              <a:t>Data </a:t>
            </a:r>
            <a:r>
              <a:rPr spc="-10" dirty="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63042" y="3907027"/>
            <a:ext cx="26320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Jupyter</a:t>
            </a:r>
            <a:r>
              <a:rPr sz="3200" spc="-20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Arial"/>
                <a:cs typeface="Arial"/>
              </a:rPr>
              <a:t>Basics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10" dirty="0"/>
              <a:t> Jupyter?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82639"/>
            <a:ext cx="7948930" cy="346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1043940" algn="l"/>
                <a:tab pos="1960245" algn="l"/>
              </a:tabLst>
            </a:pPr>
            <a:r>
              <a:rPr sz="2400" spc="-25" dirty="0">
                <a:latin typeface="Arial"/>
                <a:cs typeface="Arial"/>
              </a:rPr>
              <a:t>“The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Jupyter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Notebook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140" dirty="0">
                <a:latin typeface="Arial"/>
                <a:cs typeface="Arial"/>
              </a:rPr>
              <a:t> an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open-</a:t>
            </a:r>
            <a:r>
              <a:rPr sz="2400" spc="-140" dirty="0">
                <a:latin typeface="Arial"/>
                <a:cs typeface="Arial"/>
              </a:rPr>
              <a:t>source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web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application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 </a:t>
            </a:r>
            <a:r>
              <a:rPr sz="2400" spc="-110" dirty="0">
                <a:latin typeface="Arial"/>
                <a:cs typeface="Arial"/>
              </a:rPr>
              <a:t>allows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you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create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share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documents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contain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live </a:t>
            </a:r>
            <a:r>
              <a:rPr sz="2400" spc="-10" dirty="0">
                <a:latin typeface="Arial"/>
                <a:cs typeface="Arial"/>
              </a:rPr>
              <a:t>code,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0" dirty="0">
                <a:latin typeface="Arial"/>
                <a:cs typeface="Arial"/>
              </a:rPr>
              <a:t>equations,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visualizations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explanatory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text.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Uses </a:t>
            </a:r>
            <a:r>
              <a:rPr sz="2400" spc="-85" dirty="0">
                <a:latin typeface="Arial"/>
                <a:cs typeface="Arial"/>
              </a:rPr>
              <a:t>include: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data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cleaning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transformation,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numerical </a:t>
            </a:r>
            <a:r>
              <a:rPr sz="2400" spc="-80" dirty="0">
                <a:latin typeface="Arial"/>
                <a:cs typeface="Arial"/>
              </a:rPr>
              <a:t>simulation,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statistical</a:t>
            </a:r>
            <a:r>
              <a:rPr sz="2400" spc="32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modeling,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machine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learning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much </a:t>
            </a:r>
            <a:r>
              <a:rPr sz="2400" spc="-100" dirty="0">
                <a:latin typeface="Arial"/>
                <a:cs typeface="Arial"/>
              </a:rPr>
              <a:t>more.”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u="heavy" spc="-20" dirty="0">
                <a:solidFill>
                  <a:srgbClr val="9BBA58"/>
                </a:solidFill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jupyter.org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00"/>
              </a:spcBef>
              <a:buChar char="•"/>
              <a:tabLst>
                <a:tab pos="241300" algn="l"/>
              </a:tabLst>
            </a:pPr>
            <a:r>
              <a:rPr sz="2400" spc="-155" dirty="0">
                <a:latin typeface="Arial"/>
                <a:cs typeface="Arial"/>
              </a:rPr>
              <a:t>An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easy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environment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learn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python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Char char="•"/>
              <a:tabLst>
                <a:tab pos="241300" algn="l"/>
              </a:tabLst>
            </a:pPr>
            <a:r>
              <a:rPr sz="2400" spc="-140" dirty="0">
                <a:latin typeface="Arial"/>
                <a:cs typeface="Arial"/>
              </a:rPr>
              <a:t>Excellent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110" dirty="0">
                <a:latin typeface="Arial"/>
                <a:cs typeface="Arial"/>
              </a:rPr>
              <a:t> data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exploration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prototyping.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2400" spc="-145" dirty="0">
                <a:latin typeface="Arial"/>
                <a:cs typeface="Arial"/>
              </a:rPr>
              <a:t>Julia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Python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-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484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614" y="933129"/>
            <a:ext cx="4131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Opening</a:t>
            </a:r>
            <a:r>
              <a:rPr spc="-15" dirty="0"/>
              <a:t> </a:t>
            </a:r>
            <a:r>
              <a:rPr spc="-10" dirty="0"/>
              <a:t>Jupyter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61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2606039"/>
            <a:ext cx="5123687" cy="33314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614" y="933129"/>
            <a:ext cx="4131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Opening</a:t>
            </a:r>
            <a:r>
              <a:rPr spc="-15" dirty="0"/>
              <a:t> </a:t>
            </a:r>
            <a:r>
              <a:rPr spc="-10" dirty="0"/>
              <a:t>Jupyter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6660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55" dirty="0">
                <a:latin typeface="Arial"/>
                <a:cs typeface="Arial"/>
              </a:rPr>
              <a:t>Click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“Launch”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Jupyter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Notebook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Square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4895" y="2502402"/>
            <a:ext cx="5474335" cy="3520440"/>
            <a:chOff x="1834895" y="2502402"/>
            <a:chExt cx="5474335" cy="3520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4895" y="2601467"/>
              <a:ext cx="5474207" cy="34213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02039" y="2502407"/>
              <a:ext cx="512445" cy="1642745"/>
            </a:xfrm>
            <a:custGeom>
              <a:avLst/>
              <a:gdLst/>
              <a:ahLst/>
              <a:cxnLst/>
              <a:rect l="l" t="t" r="r" b="b"/>
              <a:pathLst>
                <a:path w="512444" h="1642745">
                  <a:moveTo>
                    <a:pt x="65646" y="100761"/>
                  </a:moveTo>
                  <a:lnTo>
                    <a:pt x="37515" y="0"/>
                  </a:lnTo>
                  <a:lnTo>
                    <a:pt x="0" y="4724"/>
                  </a:lnTo>
                  <a:lnTo>
                    <a:pt x="28143" y="105486"/>
                  </a:lnTo>
                  <a:lnTo>
                    <a:pt x="65646" y="100761"/>
                  </a:lnTo>
                  <a:close/>
                </a:path>
                <a:path w="512444" h="1642745">
                  <a:moveTo>
                    <a:pt x="93789" y="201536"/>
                  </a:moveTo>
                  <a:lnTo>
                    <a:pt x="86753" y="176339"/>
                  </a:lnTo>
                  <a:lnTo>
                    <a:pt x="49237" y="181063"/>
                  </a:lnTo>
                  <a:lnTo>
                    <a:pt x="56273" y="206248"/>
                  </a:lnTo>
                  <a:lnTo>
                    <a:pt x="93789" y="201536"/>
                  </a:lnTo>
                  <a:close/>
                </a:path>
                <a:path w="512444" h="1642745">
                  <a:moveTo>
                    <a:pt x="143014" y="377863"/>
                  </a:moveTo>
                  <a:lnTo>
                    <a:pt x="114884" y="277101"/>
                  </a:lnTo>
                  <a:lnTo>
                    <a:pt x="77368" y="281825"/>
                  </a:lnTo>
                  <a:lnTo>
                    <a:pt x="105511" y="382587"/>
                  </a:lnTo>
                  <a:lnTo>
                    <a:pt x="143014" y="377863"/>
                  </a:lnTo>
                  <a:close/>
                </a:path>
                <a:path w="512444" h="1642745">
                  <a:moveTo>
                    <a:pt x="171157" y="478637"/>
                  </a:moveTo>
                  <a:lnTo>
                    <a:pt x="164122" y="453440"/>
                  </a:lnTo>
                  <a:lnTo>
                    <a:pt x="126606" y="458165"/>
                  </a:lnTo>
                  <a:lnTo>
                    <a:pt x="133642" y="483349"/>
                  </a:lnTo>
                  <a:lnTo>
                    <a:pt x="171157" y="478637"/>
                  </a:lnTo>
                  <a:close/>
                </a:path>
                <a:path w="512444" h="1642745">
                  <a:moveTo>
                    <a:pt x="220383" y="654964"/>
                  </a:moveTo>
                  <a:lnTo>
                    <a:pt x="192252" y="554202"/>
                  </a:lnTo>
                  <a:lnTo>
                    <a:pt x="154736" y="558927"/>
                  </a:lnTo>
                  <a:lnTo>
                    <a:pt x="182880" y="659688"/>
                  </a:lnTo>
                  <a:lnTo>
                    <a:pt x="220383" y="654964"/>
                  </a:lnTo>
                  <a:close/>
                </a:path>
                <a:path w="512444" h="1642745">
                  <a:moveTo>
                    <a:pt x="248526" y="755738"/>
                  </a:moveTo>
                  <a:lnTo>
                    <a:pt x="241490" y="730542"/>
                  </a:lnTo>
                  <a:lnTo>
                    <a:pt x="203974" y="735266"/>
                  </a:lnTo>
                  <a:lnTo>
                    <a:pt x="211010" y="760450"/>
                  </a:lnTo>
                  <a:lnTo>
                    <a:pt x="248526" y="755738"/>
                  </a:lnTo>
                  <a:close/>
                </a:path>
                <a:path w="512444" h="1642745">
                  <a:moveTo>
                    <a:pt x="297751" y="932065"/>
                  </a:moveTo>
                  <a:lnTo>
                    <a:pt x="269621" y="831303"/>
                  </a:lnTo>
                  <a:lnTo>
                    <a:pt x="232105" y="836028"/>
                  </a:lnTo>
                  <a:lnTo>
                    <a:pt x="260248" y="936790"/>
                  </a:lnTo>
                  <a:lnTo>
                    <a:pt x="297751" y="932065"/>
                  </a:lnTo>
                  <a:close/>
                </a:path>
                <a:path w="512444" h="1642745">
                  <a:moveTo>
                    <a:pt x="325894" y="1032814"/>
                  </a:moveTo>
                  <a:lnTo>
                    <a:pt x="318858" y="1007630"/>
                  </a:lnTo>
                  <a:lnTo>
                    <a:pt x="281343" y="1012355"/>
                  </a:lnTo>
                  <a:lnTo>
                    <a:pt x="288378" y="1037539"/>
                  </a:lnTo>
                  <a:lnTo>
                    <a:pt x="325894" y="1032814"/>
                  </a:lnTo>
                  <a:close/>
                </a:path>
                <a:path w="512444" h="1642745">
                  <a:moveTo>
                    <a:pt x="375132" y="1209167"/>
                  </a:moveTo>
                  <a:lnTo>
                    <a:pt x="347002" y="1108405"/>
                  </a:lnTo>
                  <a:lnTo>
                    <a:pt x="309486" y="1113129"/>
                  </a:lnTo>
                  <a:lnTo>
                    <a:pt x="337629" y="1213891"/>
                  </a:lnTo>
                  <a:lnTo>
                    <a:pt x="375132" y="1209167"/>
                  </a:lnTo>
                  <a:close/>
                </a:path>
                <a:path w="512444" h="1642745">
                  <a:moveTo>
                    <a:pt x="403263" y="1309928"/>
                  </a:moveTo>
                  <a:lnTo>
                    <a:pt x="396227" y="1284732"/>
                  </a:lnTo>
                  <a:lnTo>
                    <a:pt x="358711" y="1289456"/>
                  </a:lnTo>
                  <a:lnTo>
                    <a:pt x="365747" y="1314640"/>
                  </a:lnTo>
                  <a:lnTo>
                    <a:pt x="403263" y="1309928"/>
                  </a:lnTo>
                  <a:close/>
                </a:path>
                <a:path w="512444" h="1642745">
                  <a:moveTo>
                    <a:pt x="452501" y="1486268"/>
                  </a:moveTo>
                  <a:lnTo>
                    <a:pt x="424370" y="1385506"/>
                  </a:lnTo>
                  <a:lnTo>
                    <a:pt x="386854" y="1390230"/>
                  </a:lnTo>
                  <a:lnTo>
                    <a:pt x="414997" y="1490992"/>
                  </a:lnTo>
                  <a:lnTo>
                    <a:pt x="452501" y="1486268"/>
                  </a:lnTo>
                  <a:close/>
                </a:path>
                <a:path w="512444" h="1642745">
                  <a:moveTo>
                    <a:pt x="511924" y="1560004"/>
                  </a:moveTo>
                  <a:lnTo>
                    <a:pt x="474421" y="1564741"/>
                  </a:lnTo>
                  <a:lnTo>
                    <a:pt x="473608" y="1561833"/>
                  </a:lnTo>
                  <a:lnTo>
                    <a:pt x="436092" y="1566557"/>
                  </a:lnTo>
                  <a:lnTo>
                    <a:pt x="436905" y="1569466"/>
                  </a:lnTo>
                  <a:lnTo>
                    <a:pt x="399389" y="1574177"/>
                  </a:lnTo>
                  <a:lnTo>
                    <a:pt x="476758" y="1642668"/>
                  </a:lnTo>
                  <a:lnTo>
                    <a:pt x="509917" y="1564741"/>
                  </a:lnTo>
                  <a:lnTo>
                    <a:pt x="511924" y="1560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82639"/>
            <a:ext cx="367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165" dirty="0">
                <a:latin typeface="Arial"/>
                <a:cs typeface="Arial"/>
              </a:rPr>
              <a:t>This</a:t>
            </a:r>
            <a:r>
              <a:rPr sz="2400" spc="-125" dirty="0">
                <a:latin typeface="Arial"/>
                <a:cs typeface="Arial"/>
              </a:rPr>
              <a:t> is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what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you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should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see: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131" y="4207095"/>
            <a:ext cx="5278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200" dirty="0">
                <a:latin typeface="Arial"/>
                <a:cs typeface="Arial"/>
              </a:rPr>
              <a:t>Now,</a:t>
            </a:r>
            <a:r>
              <a:rPr sz="2400" spc="-25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click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‘New’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select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‘Python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3’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400" spc="-320" dirty="0">
                <a:latin typeface="Arial"/>
                <a:cs typeface="Arial"/>
              </a:rPr>
              <a:t>You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just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created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a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new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Jupyter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notebook.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2644139"/>
            <a:ext cx="9116567" cy="13685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1985103"/>
            <a:ext cx="6206490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95"/>
              </a:spcBef>
              <a:buChar char="•"/>
              <a:tabLst>
                <a:tab pos="241300" algn="l"/>
              </a:tabLst>
            </a:pPr>
            <a:r>
              <a:rPr sz="2400" spc="-200" dirty="0">
                <a:latin typeface="Arial"/>
                <a:cs typeface="Arial"/>
              </a:rPr>
              <a:t>Now,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let’s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change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title.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spc="-165" dirty="0">
                <a:latin typeface="Arial"/>
                <a:cs typeface="Arial"/>
              </a:rPr>
              <a:t>Click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Untitled</a:t>
            </a:r>
            <a:r>
              <a:rPr sz="2400" spc="-120" dirty="0">
                <a:latin typeface="Arial"/>
                <a:cs typeface="Arial"/>
              </a:rPr>
              <a:t> and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type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in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‘My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First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Notebook’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" y="3299459"/>
            <a:ext cx="8982455" cy="15636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3375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320" dirty="0">
                <a:latin typeface="Arial"/>
                <a:cs typeface="Arial"/>
              </a:rPr>
              <a:t>You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should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now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see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this: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40735"/>
            <a:ext cx="9143999" cy="16062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Jupyter</a:t>
            </a:r>
            <a:r>
              <a:rPr sz="4400" spc="-20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Basics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1670" y="2412917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412</Words>
  <Application>Microsoft Macintosh PowerPoint</Application>
  <PresentationFormat>On-screen Show (4:3)</PresentationFormat>
  <Paragraphs>59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Intro To Python For Data Analysis</vt:lpstr>
      <vt:lpstr>What will we do this week?</vt:lpstr>
      <vt:lpstr>What will we do this week?</vt:lpstr>
      <vt:lpstr>PowerPoint Presentation</vt:lpstr>
      <vt:lpstr>What is Anaconda</vt:lpstr>
      <vt:lpstr>What is Anaconda</vt:lpstr>
      <vt:lpstr>Installing Anaconda</vt:lpstr>
      <vt:lpstr>Installing Anaconda</vt:lpstr>
      <vt:lpstr>Installing Anaconda</vt:lpstr>
      <vt:lpstr>Installing Anaconda</vt:lpstr>
      <vt:lpstr>Installing Anaconda</vt:lpstr>
      <vt:lpstr>Check the Installation</vt:lpstr>
      <vt:lpstr>Check the Installation</vt:lpstr>
      <vt:lpstr>Check the Installation</vt:lpstr>
      <vt:lpstr>Intro To Python For Data Analysis</vt:lpstr>
      <vt:lpstr>What is Jupyter?</vt:lpstr>
      <vt:lpstr>Opening Jupyter</vt:lpstr>
      <vt:lpstr>Opening Jupyter</vt:lpstr>
      <vt:lpstr>Creating a Notebook</vt:lpstr>
      <vt:lpstr>Creating a Notebook</vt:lpstr>
      <vt:lpstr>Creating a Notebook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Navarro</dc:creator>
  <cp:lastModifiedBy>Yu Zhang</cp:lastModifiedBy>
  <cp:revision>5</cp:revision>
  <dcterms:created xsi:type="dcterms:W3CDTF">2022-04-06T23:58:46Z</dcterms:created>
  <dcterms:modified xsi:type="dcterms:W3CDTF">2026-06-18T23:22:49Z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2022-04-06T00:00:00Z</vt:filetime>
  </property>
</Properties>
</file>